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ily Heavy Rainfall Prediction in Bugisu Sub-Region" id="{41EF4D74-D10D-482A-B362-6D70C98656F2}">
          <p14:sldIdLst>
            <p14:sldId id="2561"/>
          </p14:sldIdLst>
        </p14:section>
        <p14:section name="Project Overview and Objectives" id="{10F7098E-4476-4BB4-9684-A3CF82EB859C}">
          <p14:sldIdLst>
            <p14:sldId id="2562"/>
            <p14:sldId id="2563"/>
            <p14:sldId id="2564"/>
          </p14:sldIdLst>
        </p14:section>
        <p14:section name="Data and Feature Engineering" id="{44B5949F-37D3-4C7B-A91C-5B7F484DB3F9}">
          <p14:sldIdLst>
            <p14:sldId id="2565"/>
            <p14:sldId id="2566"/>
            <p14:sldId id="2567"/>
          </p14:sldIdLst>
        </p14:section>
        <p14:section name="Modeling and Evaluation" id="{96A19C0C-04E9-44DE-8ABF-9E667EBF53CC}">
          <p14:sldIdLst>
            <p14:sldId id="2568"/>
            <p14:sldId id="2569"/>
            <p14:sldId id="2570"/>
          </p14:sldIdLst>
        </p14:section>
        <p14:section name="Deployment and Ethical Considerations" id="{B2C4717B-70F5-4F76-B4D6-9F24E9435476}">
          <p14:sldIdLst>
            <p14:sldId id="2571"/>
            <p14:sldId id="2572"/>
            <p14:sldId id="2573"/>
          </p14:sldIdLst>
        </p14:section>
        <p14:section name="Limitations and Future Directions" id="{58C58CD7-5D08-4484-97D4-172CC259775B}">
          <p14:sldIdLst>
            <p14:sldId id="2574"/>
            <p14:sldId id="2575"/>
            <p14:sldId id="25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007CF2-8D4B-4D61-988F-704C67BF2951}" v="2" dt="2025-12-18T20:00:15.821"/>
    <p1510:client id="{C5030907-2573-E97C-A332-305FEC9141A4}" v="19" dt="2025-12-18T19:54:53.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9" d="100"/>
          <a:sy n="59" d="100"/>
        </p:scale>
        <p:origin x="964" y="7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361FE-E6E1-4400-9CE1-83C39593118B}" type="datetimeFigureOut">
              <a:t>18/12/2025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4B37C-F69B-4ADE-A43B-43F9008D03D1}" type="slidenum">
              <a:t>‹#›</a:t>
            </a:fld>
            <a:endParaRPr lang="en-US"/>
          </a:p>
        </p:txBody>
      </p:sp>
    </p:spTree>
    <p:extLst>
      <p:ext uri="{BB962C8B-B14F-4D97-AF65-F5344CB8AC3E}">
        <p14:creationId xmlns:p14="http://schemas.microsoft.com/office/powerpoint/2010/main" val="306434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5DA8296-E7E4-49D1-BAB9-6F6866FF3740}" type="slidenum">
              <a:t>1</a:t>
            </a:fld>
            <a:endParaRPr lang="en-US"/>
          </a:p>
        </p:txBody>
      </p:sp>
    </p:spTree>
    <p:extLst>
      <p:ext uri="{BB962C8B-B14F-4D97-AF65-F5344CB8AC3E}">
        <p14:creationId xmlns:p14="http://schemas.microsoft.com/office/powerpoint/2010/main" val="2840186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&amp; Objectives, CRISP-DM Overview</a:t>
            </a:r>
          </a:p>
        </p:txBody>
      </p:sp>
      <p:sp>
        <p:nvSpPr>
          <p:cNvPr id="4" name="Slide Number Placeholder 3"/>
          <p:cNvSpPr>
            <a:spLocks noGrp="1"/>
          </p:cNvSpPr>
          <p:nvPr>
            <p:ph type="sldNum" sz="quarter" idx="5"/>
          </p:nvPr>
        </p:nvSpPr>
        <p:spPr/>
        <p:txBody>
          <a:bodyPr/>
          <a:lstStyle/>
          <a:p>
            <a:fld id="{75DA8296-E7E4-49D1-BAB9-6F6866FF3740}" type="slidenum">
              <a:t>2</a:t>
            </a:fld>
            <a:endParaRPr lang="en-US"/>
          </a:p>
        </p:txBody>
      </p:sp>
    </p:spTree>
    <p:extLst>
      <p:ext uri="{BB962C8B-B14F-4D97-AF65-F5344CB8AC3E}">
        <p14:creationId xmlns:p14="http://schemas.microsoft.com/office/powerpoint/2010/main" val="3248294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Bugisu sub-region in Eastern Uganda, comprising districts such as Mbale, Bududa, Manafwa, and Sironko, faces recurrent heavy rainfall events that often lead to floods and landslides. These disasters result in significant loss of life, damage to infrastructure, and disruption of agricultural activities. The primary objective of this project is to develop a predictive system capable of identifying days with heavy rainfall, defined as those exceeding the 95th percentile of historical daily rainfall. By leveraging machine learning and distributed data processing, the system aims to provide early warnings to mitigate disaster risks. Success criteria include achieving high recall to minimize missed extreme events, ensuring model interpretability, and deploying a robust solution that can integrate into early warning systems. The project also emphasizes ethical considerations, such as data privacy compliance and transparent communication of uncertainty, to build trust among stakeholders including local governments, disaster response agencies, and farmers.</a:t>
            </a:r>
          </a:p>
        </p:txBody>
      </p:sp>
      <p:sp>
        <p:nvSpPr>
          <p:cNvPr id="4" name="Slide Number Placeholder 3"/>
          <p:cNvSpPr>
            <a:spLocks noGrp="1"/>
          </p:cNvSpPr>
          <p:nvPr>
            <p:ph type="sldNum" sz="quarter" idx="5"/>
          </p:nvPr>
        </p:nvSpPr>
        <p:spPr/>
        <p:txBody>
          <a:bodyPr/>
          <a:lstStyle/>
          <a:p>
            <a:fld id="{75DA8296-E7E4-49D1-BAB9-6F6866FF3740}" type="slidenum">
              <a:t>3</a:t>
            </a:fld>
            <a:endParaRPr lang="en-US"/>
          </a:p>
        </p:txBody>
      </p:sp>
    </p:spTree>
    <p:extLst>
      <p:ext uri="{BB962C8B-B14F-4D97-AF65-F5344CB8AC3E}">
        <p14:creationId xmlns:p14="http://schemas.microsoft.com/office/powerpoint/2010/main" val="1424605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CRISP-DM framework guides the entire lifecycle of this project. Business Understanding focuses on reducing disaster risk through accurate rainfall predictions. Data Understanding involves simulating a realistic dataset reflecting Bugisu's bimodal rainfall pattern, identifying issues like missing values, outliers, and skewed distributions. Data Preparation includes cleaning, imputation, outlier handling, and feature engineering such as rainfall lags, rolling averages, and seasonal indicators. Modeling explores multiple algorithms, including Logistic Regression for baseline interpretability and Random Forest for robust performance on non-linear patterns. Evaluation employs metrics like F1 score, ROC-AUC, and precision-recall curves, alongside fairness checks across districts. Deployment integrates FastAPI for serving predictions, Docker for containerization, and monitoring strategies for data and model drift. This structured approach ensures that each phase aligns with the project’s objectives and ethical standards.</a:t>
            </a:r>
          </a:p>
        </p:txBody>
      </p:sp>
      <p:sp>
        <p:nvSpPr>
          <p:cNvPr id="4" name="Slide Number Placeholder 3"/>
          <p:cNvSpPr>
            <a:spLocks noGrp="1"/>
          </p:cNvSpPr>
          <p:nvPr>
            <p:ph type="sldNum" sz="quarter" idx="5"/>
          </p:nvPr>
        </p:nvSpPr>
        <p:spPr/>
        <p:txBody>
          <a:bodyPr/>
          <a:lstStyle/>
          <a:p>
            <a:fld id="{75DA8296-E7E4-49D1-BAB9-6F6866FF3740}" type="slidenum">
              <a:t>4</a:t>
            </a:fld>
            <a:endParaRPr lang="en-US"/>
          </a:p>
        </p:txBody>
      </p:sp>
    </p:spTree>
    <p:extLst>
      <p:ext uri="{BB962C8B-B14F-4D97-AF65-F5344CB8AC3E}">
        <p14:creationId xmlns:p14="http://schemas.microsoft.com/office/powerpoint/2010/main" val="4040840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Simulation and Characteristics, Feature Engineering and Target Definition</a:t>
            </a:r>
          </a:p>
        </p:txBody>
      </p:sp>
      <p:sp>
        <p:nvSpPr>
          <p:cNvPr id="4" name="Slide Number Placeholder 3"/>
          <p:cNvSpPr>
            <a:spLocks noGrp="1"/>
          </p:cNvSpPr>
          <p:nvPr>
            <p:ph type="sldNum" sz="quarter" idx="5"/>
          </p:nvPr>
        </p:nvSpPr>
        <p:spPr/>
        <p:txBody>
          <a:bodyPr/>
          <a:lstStyle/>
          <a:p>
            <a:fld id="{75DA8296-E7E4-49D1-BAB9-6F6866FF3740}" type="slidenum">
              <a:t>5</a:t>
            </a:fld>
            <a:endParaRPr lang="en-US"/>
          </a:p>
        </p:txBody>
      </p:sp>
    </p:spTree>
    <p:extLst>
      <p:ext uri="{BB962C8B-B14F-4D97-AF65-F5344CB8AC3E}">
        <p14:creationId xmlns:p14="http://schemas.microsoft.com/office/powerpoint/2010/main" val="199590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was simulated to represent five years of daily weather observations across four districts in Bugisu. Key variables include rainfall (in millimeters), temperature, humidity, wind speed, and atmospheric pressure. Seasonal patterns were incorporated to reflect Uganda’s bimodal rainfall regime, with peaks during March-May (MAM) and September-November (SON). Additional features such as district identifiers and seasonal indicators were added to capture spatial and temporal variability. Challenges identified during data understanding included missing humidity values, outliers in rainfall due to extreme events, and skewed distributions. These issues were addressed through median imputation for missing values, outlier capping, and log transformations for rainfall. The final dataset also includes engineered features like rainfall lags (1, 3, and 7 days) and rolling averages, which enhance the model’s ability to capture temporal dependencies critical for predicting heavy rainfall events.</a:t>
            </a:r>
          </a:p>
        </p:txBody>
      </p:sp>
      <p:sp>
        <p:nvSpPr>
          <p:cNvPr id="4" name="Slide Number Placeholder 3"/>
          <p:cNvSpPr>
            <a:spLocks noGrp="1"/>
          </p:cNvSpPr>
          <p:nvPr>
            <p:ph type="sldNum" sz="quarter" idx="5"/>
          </p:nvPr>
        </p:nvSpPr>
        <p:spPr/>
        <p:txBody>
          <a:bodyPr/>
          <a:lstStyle/>
          <a:p>
            <a:fld id="{75DA8296-E7E4-49D1-BAB9-6F6866FF3740}" type="slidenum">
              <a:t>6</a:t>
            </a:fld>
            <a:endParaRPr lang="en-US"/>
          </a:p>
        </p:txBody>
      </p:sp>
    </p:spTree>
    <p:extLst>
      <p:ext uri="{BB962C8B-B14F-4D97-AF65-F5344CB8AC3E}">
        <p14:creationId xmlns:p14="http://schemas.microsoft.com/office/powerpoint/2010/main" val="3732083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Feature engineering was a crucial step in improving model performance and interpretability. Lag features were created to capture short-term rainfall trends, while rolling averages provided insights into medium-term patterns. Seasonal indicators and district-level categorical variables were encoded to account for spatial and temporal heterogeneity. The target variable, heavy rainfall, was defined as days exceeding the 95th percentile of rainfall within each district-season group, ensuring that the classification reflects localized extremes rather than global thresholds. This approach improves fairness and relevance for disaster preparedness. Data preprocessing also included scaling numeric features and one-hot encoding categorical variables to prepare the dataset for machine learning algorithms. These transformations were implemented within a pipeline to ensure reproducibility and facilitate deployment in production environments.</a:t>
            </a:r>
          </a:p>
        </p:txBody>
      </p:sp>
      <p:sp>
        <p:nvSpPr>
          <p:cNvPr id="4" name="Slide Number Placeholder 3"/>
          <p:cNvSpPr>
            <a:spLocks noGrp="1"/>
          </p:cNvSpPr>
          <p:nvPr>
            <p:ph type="sldNum" sz="quarter" idx="5"/>
          </p:nvPr>
        </p:nvSpPr>
        <p:spPr/>
        <p:txBody>
          <a:bodyPr/>
          <a:lstStyle/>
          <a:p>
            <a:fld id="{75DA8296-E7E4-49D1-BAB9-6F6866FF3740}" type="slidenum">
              <a:t>7</a:t>
            </a:fld>
            <a:endParaRPr lang="en-US"/>
          </a:p>
        </p:txBody>
      </p:sp>
    </p:spTree>
    <p:extLst>
      <p:ext uri="{BB962C8B-B14F-4D97-AF65-F5344CB8AC3E}">
        <p14:creationId xmlns:p14="http://schemas.microsoft.com/office/powerpoint/2010/main" val="37810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 Selection and Development, Evaluation Metrics and Fairness Analysis</a:t>
            </a:r>
          </a:p>
        </p:txBody>
      </p:sp>
      <p:sp>
        <p:nvSpPr>
          <p:cNvPr id="4" name="Slide Number Placeholder 3"/>
          <p:cNvSpPr>
            <a:spLocks noGrp="1"/>
          </p:cNvSpPr>
          <p:nvPr>
            <p:ph type="sldNum" sz="quarter" idx="5"/>
          </p:nvPr>
        </p:nvSpPr>
        <p:spPr/>
        <p:txBody>
          <a:bodyPr/>
          <a:lstStyle/>
          <a:p>
            <a:fld id="{75DA8296-E7E4-49D1-BAB9-6F6866FF3740}" type="slidenum">
              <a:t>8</a:t>
            </a:fld>
            <a:endParaRPr lang="en-US"/>
          </a:p>
        </p:txBody>
      </p:sp>
    </p:spTree>
    <p:extLst>
      <p:ext uri="{BB962C8B-B14F-4D97-AF65-F5344CB8AC3E}">
        <p14:creationId xmlns:p14="http://schemas.microsoft.com/office/powerpoint/2010/main" val="3647866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Two primary models were developed: Logistic Regression and Random Forest. Logistic Regression served as a baseline due to its simplicity and interpretability, making it suitable for initial hypothesis testing. Random Forest was selected as the primary model because of its ability to handle non-linear relationships and interactions among features, which are common in meteorological data. Hyperparameter tuning was performed using randomized search to optimize performance. Experiment tracking was facilitated through MLflow, ensuring reproducibility and transparency. The modeling process adhered to ethical guidelines by incorporating explainability tools such as SHAP for feature importance analysis, enabling stakeholders to understand the drivers of predictions. This interpretability is critical for building trust in the system, especially when informing disaster response decisions.</a:t>
            </a:r>
          </a:p>
        </p:txBody>
      </p:sp>
      <p:sp>
        <p:nvSpPr>
          <p:cNvPr id="4" name="Slide Number Placeholder 3"/>
          <p:cNvSpPr>
            <a:spLocks noGrp="1"/>
          </p:cNvSpPr>
          <p:nvPr>
            <p:ph type="sldNum" sz="quarter" idx="5"/>
          </p:nvPr>
        </p:nvSpPr>
        <p:spPr/>
        <p:txBody>
          <a:bodyPr/>
          <a:lstStyle/>
          <a:p>
            <a:fld id="{75DA8296-E7E4-49D1-BAB9-6F6866FF3740}" type="slidenum">
              <a:t>9</a:t>
            </a:fld>
            <a:endParaRPr lang="en-US"/>
          </a:p>
        </p:txBody>
      </p:sp>
    </p:spTree>
    <p:extLst>
      <p:ext uri="{BB962C8B-B14F-4D97-AF65-F5344CB8AC3E}">
        <p14:creationId xmlns:p14="http://schemas.microsoft.com/office/powerpoint/2010/main" val="71368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Model evaluation employed a time-based train-validation-test split to respect temporal dependencies in the data. Key metrics included F1 score, ROC-AUC, and Precision-Recall AUC, which are particularly relevant for imbalanced classification problems like extreme rainfall prediction. Confusion matrices were analyzed to understand error patterns, revealing that false negatives often occurred during abrupt rainfall spikes, while false positives were more common in transitional seasons. Fairness analysis was conducted by comparing recall across districts to ensure equitable performance. The Random Forest model demonstrated strong predictive capability with minimal disparity in recall between districts, supporting its suitability for deployment. These evaluation steps not only validate the model’s technical performance but also its alignment with ethical and operational objectives.</a:t>
            </a:r>
          </a:p>
        </p:txBody>
      </p:sp>
      <p:sp>
        <p:nvSpPr>
          <p:cNvPr id="4" name="Slide Number Placeholder 3"/>
          <p:cNvSpPr>
            <a:spLocks noGrp="1"/>
          </p:cNvSpPr>
          <p:nvPr>
            <p:ph type="sldNum" sz="quarter" idx="5"/>
          </p:nvPr>
        </p:nvSpPr>
        <p:spPr/>
        <p:txBody>
          <a:bodyPr/>
          <a:lstStyle/>
          <a:p>
            <a:fld id="{75DA8296-E7E4-49D1-BAB9-6F6866FF3740}" type="slidenum">
              <a:t>10</a:t>
            </a:fld>
            <a:endParaRPr lang="en-US"/>
          </a:p>
        </p:txBody>
      </p:sp>
    </p:spTree>
    <p:extLst>
      <p:ext uri="{BB962C8B-B14F-4D97-AF65-F5344CB8AC3E}">
        <p14:creationId xmlns:p14="http://schemas.microsoft.com/office/powerpoint/2010/main" val="2924904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MLOps and Deployment Strategy, Ethical and Governance Framework</a:t>
            </a:r>
          </a:p>
        </p:txBody>
      </p:sp>
      <p:sp>
        <p:nvSpPr>
          <p:cNvPr id="4" name="Slide Number Placeholder 3"/>
          <p:cNvSpPr>
            <a:spLocks noGrp="1"/>
          </p:cNvSpPr>
          <p:nvPr>
            <p:ph type="sldNum" sz="quarter" idx="5"/>
          </p:nvPr>
        </p:nvSpPr>
        <p:spPr/>
        <p:txBody>
          <a:bodyPr/>
          <a:lstStyle/>
          <a:p>
            <a:fld id="{75DA8296-E7E4-49D1-BAB9-6F6866FF3740}" type="slidenum">
              <a:t>11</a:t>
            </a:fld>
            <a:endParaRPr lang="en-US"/>
          </a:p>
        </p:txBody>
      </p:sp>
    </p:spTree>
    <p:extLst>
      <p:ext uri="{BB962C8B-B14F-4D97-AF65-F5344CB8AC3E}">
        <p14:creationId xmlns:p14="http://schemas.microsoft.com/office/powerpoint/2010/main" val="3579690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deployment strategy focused on scalability, reliability, and maintainability. The final Random Forest model was exposed via a FastAPI endpoint, enabling real-time predictions through a RESTful interface. Containerization using Docker ensured portability across environments, while a CI/CD pipeline was designed to automate testing and deployment. Monitoring components were proposed to track data drift and model performance over time, safeguarding against degradation in predictive accuracy. These measures are essential for operationalizing the model in dynamic environments where climate patterns and data distributions may evolve. Additionally, the architecture supports future integration with cloud platforms for autoscaling and disaster alert systems, enhancing the system’s resilience and reach.</a:t>
            </a:r>
          </a:p>
        </p:txBody>
      </p:sp>
      <p:sp>
        <p:nvSpPr>
          <p:cNvPr id="4" name="Slide Number Placeholder 3"/>
          <p:cNvSpPr>
            <a:spLocks noGrp="1"/>
          </p:cNvSpPr>
          <p:nvPr>
            <p:ph type="sldNum" sz="quarter" idx="5"/>
          </p:nvPr>
        </p:nvSpPr>
        <p:spPr/>
        <p:txBody>
          <a:bodyPr/>
          <a:lstStyle/>
          <a:p>
            <a:fld id="{75DA8296-E7E4-49D1-BAB9-6F6866FF3740}" type="slidenum">
              <a:t>12</a:t>
            </a:fld>
            <a:endParaRPr lang="en-US"/>
          </a:p>
        </p:txBody>
      </p:sp>
    </p:spTree>
    <p:extLst>
      <p:ext uri="{BB962C8B-B14F-4D97-AF65-F5344CB8AC3E}">
        <p14:creationId xmlns:p14="http://schemas.microsoft.com/office/powerpoint/2010/main" val="2171689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Ethical considerations were central to the project design. No personally identifiable information was used, minimizing privacy risks. Compliance with the Uganda Data Protection and Privacy Act (2019) and GDPR principles was ensured through data minimization, secure storage, and de-identification practices. Transparency was promoted by incorporating explainability tools and clearly communicating model limitations and uncertainty to stakeholders. The project also emphasized fairness by validating performance across different districts and avoiding biases that could disproportionately affect vulnerable communities. These governance measures not only fulfill legal requirements but also foster trust and accountability, which are critical for deploying predictive systems in sensitive domains like disaster management.</a:t>
            </a:r>
          </a:p>
        </p:txBody>
      </p:sp>
      <p:sp>
        <p:nvSpPr>
          <p:cNvPr id="4" name="Slide Number Placeholder 3"/>
          <p:cNvSpPr>
            <a:spLocks noGrp="1"/>
          </p:cNvSpPr>
          <p:nvPr>
            <p:ph type="sldNum" sz="quarter" idx="5"/>
          </p:nvPr>
        </p:nvSpPr>
        <p:spPr/>
        <p:txBody>
          <a:bodyPr/>
          <a:lstStyle/>
          <a:p>
            <a:fld id="{75DA8296-E7E4-49D1-BAB9-6F6866FF3740}" type="slidenum">
              <a:t>13</a:t>
            </a:fld>
            <a:endParaRPr lang="en-US"/>
          </a:p>
        </p:txBody>
      </p:sp>
    </p:spTree>
    <p:extLst>
      <p:ext uri="{BB962C8B-B14F-4D97-AF65-F5344CB8AC3E}">
        <p14:creationId xmlns:p14="http://schemas.microsoft.com/office/powerpoint/2010/main" val="3739224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Limitations, Future Work and Recommendations</a:t>
            </a:r>
          </a:p>
        </p:txBody>
      </p:sp>
      <p:sp>
        <p:nvSpPr>
          <p:cNvPr id="4" name="Slide Number Placeholder 3"/>
          <p:cNvSpPr>
            <a:spLocks noGrp="1"/>
          </p:cNvSpPr>
          <p:nvPr>
            <p:ph type="sldNum" sz="quarter" idx="5"/>
          </p:nvPr>
        </p:nvSpPr>
        <p:spPr/>
        <p:txBody>
          <a:bodyPr/>
          <a:lstStyle/>
          <a:p>
            <a:fld id="{75DA8296-E7E4-49D1-BAB9-6F6866FF3740}" type="slidenum">
              <a:t>14</a:t>
            </a:fld>
            <a:endParaRPr lang="en-US"/>
          </a:p>
        </p:txBody>
      </p:sp>
    </p:spTree>
    <p:extLst>
      <p:ext uri="{BB962C8B-B14F-4D97-AF65-F5344CB8AC3E}">
        <p14:creationId xmlns:p14="http://schemas.microsoft.com/office/powerpoint/2010/main" val="2090162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promising results, the project has several limitations. The dataset was simulated rather than sourced from real-world observations, which may limit the model’s generalizability. Hydrological variables such as soil moisture and runoff were not included, potentially reducing predictive accuracy for flood-related impacts. Deep learning models, such as LSTMs for sequence modeling, were only briefly explored and not fully integrated. Additionally, the deployment was limited to a local environment without full cloud integration, restricting scalability. These constraints highlight areas for improvement and underscore the need for continuous iteration and validation using real-world data.</a:t>
            </a:r>
          </a:p>
        </p:txBody>
      </p:sp>
      <p:sp>
        <p:nvSpPr>
          <p:cNvPr id="4" name="Slide Number Placeholder 3"/>
          <p:cNvSpPr>
            <a:spLocks noGrp="1"/>
          </p:cNvSpPr>
          <p:nvPr>
            <p:ph type="sldNum" sz="quarter" idx="5"/>
          </p:nvPr>
        </p:nvSpPr>
        <p:spPr/>
        <p:txBody>
          <a:bodyPr/>
          <a:lstStyle/>
          <a:p>
            <a:fld id="{75DA8296-E7E4-49D1-BAB9-6F6866FF3740}" type="slidenum">
              <a:t>15</a:t>
            </a:fld>
            <a:endParaRPr lang="en-US"/>
          </a:p>
        </p:txBody>
      </p:sp>
    </p:spTree>
    <p:extLst>
      <p:ext uri="{BB962C8B-B14F-4D97-AF65-F5344CB8AC3E}">
        <p14:creationId xmlns:p14="http://schemas.microsoft.com/office/powerpoint/2010/main" val="1521406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Future enhancements should focus on integrating real datasets from sources like CHIRPS or ERA5 to improve model robustness. Incorporating hydrological and topographical variables can enhance predictive accuracy for flood and landslide risks. Advanced modeling techniques, including LSTM networks, should be explored to capture temporal dependencies more effectively. Deployment should transition to cloud platforms with autoscaling capabilities to support large-scale operations. Additionally, integrating SMS-based alert systems can extend the model’s impact by delivering timely warnings to at-risk communities. Continuous monitoring for data and model drift, coupled with periodic retraining, will ensure sustained performance and relevance in dynamic climatic conditions.</a:t>
            </a:r>
          </a:p>
        </p:txBody>
      </p:sp>
      <p:sp>
        <p:nvSpPr>
          <p:cNvPr id="4" name="Slide Number Placeholder 3"/>
          <p:cNvSpPr>
            <a:spLocks noGrp="1"/>
          </p:cNvSpPr>
          <p:nvPr>
            <p:ph type="sldNum" sz="quarter" idx="5"/>
          </p:nvPr>
        </p:nvSpPr>
        <p:spPr/>
        <p:txBody>
          <a:bodyPr/>
          <a:lstStyle/>
          <a:p>
            <a:fld id="{75DA8296-E7E4-49D1-BAB9-6F6866FF3740}" type="slidenum">
              <a:t>16</a:t>
            </a:fld>
            <a:endParaRPr lang="en-US"/>
          </a:p>
        </p:txBody>
      </p:sp>
    </p:spTree>
    <p:extLst>
      <p:ext uri="{BB962C8B-B14F-4D97-AF65-F5344CB8AC3E}">
        <p14:creationId xmlns:p14="http://schemas.microsoft.com/office/powerpoint/2010/main" val="4289148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12/18/2025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12/18/2025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12/18/2025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12/18/2025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12/18/2025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12/18/2025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12/18/2025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12/18/2025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12/18/2025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12/18/2025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12/18/2025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12/18/2025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12/18/2025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12/18/2025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12/18/2025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12/18/2025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12/18/2025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12/18/2025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12/18/2025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12/18/2025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12/18/2025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12/18/2025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12/18/2025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12/18/2025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12/18/2025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12/18/2025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12/18/2025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12/18/2025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B6EF-A677-014D-4FC4-3C493C2AE373}"/>
              </a:ext>
            </a:extLst>
          </p:cNvPr>
          <p:cNvSpPr>
            <a:spLocks noGrp="1"/>
          </p:cNvSpPr>
          <p:nvPr>
            <p:ph type="ctrTitle"/>
          </p:nvPr>
        </p:nvSpPr>
        <p:spPr>
          <a:xfrm>
            <a:off x="457200" y="457200"/>
            <a:ext cx="4025153" cy="3739896"/>
          </a:xfrm>
        </p:spPr>
        <p:txBody>
          <a:bodyPr anchor="t">
            <a:normAutofit/>
          </a:bodyPr>
          <a:lstStyle/>
          <a:p>
            <a:r>
              <a:rPr lang="en-US"/>
              <a:t>Daily Heavy Rainfall Prediction in Bugisu Sub-Region</a:t>
            </a:r>
          </a:p>
        </p:txBody>
      </p:sp>
      <p:sp>
        <p:nvSpPr>
          <p:cNvPr id="3" name="Subtitle 2">
            <a:extLst>
              <a:ext uri="{FF2B5EF4-FFF2-40B4-BE49-F238E27FC236}">
                <a16:creationId xmlns:a16="http://schemas.microsoft.com/office/drawing/2014/main" id="{AA7BB756-91B3-40AB-2143-79C7B549983D}"/>
              </a:ext>
            </a:extLst>
          </p:cNvPr>
          <p:cNvSpPr>
            <a:spLocks noGrp="1"/>
          </p:cNvSpPr>
          <p:nvPr>
            <p:ph type="subTitle" idx="1"/>
          </p:nvPr>
        </p:nvSpPr>
        <p:spPr>
          <a:xfrm>
            <a:off x="457200" y="5332780"/>
            <a:ext cx="4025153" cy="1016813"/>
          </a:xfrm>
        </p:spPr>
        <p:txBody>
          <a:bodyPr anchor="ctr">
            <a:normAutofit/>
          </a:bodyPr>
          <a:lstStyle/>
          <a:p>
            <a:r>
              <a:rPr lang="en-US"/>
              <a:t>Forecasting intense rainfall for regional preparedness</a:t>
            </a:r>
          </a:p>
        </p:txBody>
      </p:sp>
      <p:pic>
        <p:nvPicPr>
          <p:cNvPr id="4" name="Picture 3" descr="The landscape of a storm over a farm">
            <a:extLst>
              <a:ext uri="{FF2B5EF4-FFF2-40B4-BE49-F238E27FC236}">
                <a16:creationId xmlns:a16="http://schemas.microsoft.com/office/drawing/2014/main" id="{9AF05663-9ED1-4D88-97BD-5A2B97070E80}"/>
              </a:ext>
            </a:extLst>
          </p:cNvPr>
          <p:cNvPicPr>
            <a:picLocks noChangeAspect="1"/>
          </p:cNvPicPr>
          <p:nvPr/>
        </p:nvPicPr>
        <p:blipFill>
          <a:blip r:embed="rId3"/>
          <a:srcRect l="14929" r="26321"/>
          <a:stretch>
            <a:fillRect/>
          </a:stretch>
        </p:blipFill>
        <p:spPr>
          <a:xfrm>
            <a:off x="5029201" y="10"/>
            <a:ext cx="7162800" cy="6857990"/>
          </a:xfrm>
          <a:prstGeom prst="rect">
            <a:avLst/>
          </a:prstGeom>
        </p:spPr>
      </p:pic>
    </p:spTree>
    <p:extLst>
      <p:ext uri="{BB962C8B-B14F-4D97-AF65-F5344CB8AC3E}">
        <p14:creationId xmlns:p14="http://schemas.microsoft.com/office/powerpoint/2010/main" val="221584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EC492-63CA-AC26-7DFF-FE665961FB7E}"/>
              </a:ext>
            </a:extLst>
          </p:cNvPr>
          <p:cNvSpPr>
            <a:spLocks noGrp="1"/>
          </p:cNvSpPr>
          <p:nvPr>
            <p:ph type="ctrTitle"/>
          </p:nvPr>
        </p:nvSpPr>
        <p:spPr>
          <a:xfrm>
            <a:off x="457197" y="3507830"/>
            <a:ext cx="7772400" cy="2944368"/>
          </a:xfrm>
        </p:spPr>
        <p:txBody>
          <a:bodyPr anchor="b">
            <a:normAutofit/>
          </a:bodyPr>
          <a:lstStyle/>
          <a:p>
            <a:r>
              <a:rPr lang="en-US"/>
              <a:t>Project Overview and Objectives</a:t>
            </a:r>
          </a:p>
        </p:txBody>
      </p:sp>
    </p:spTree>
    <p:extLst>
      <p:ext uri="{BB962C8B-B14F-4D97-AF65-F5344CB8AC3E}">
        <p14:creationId xmlns:p14="http://schemas.microsoft.com/office/powerpoint/2010/main" val="242681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6D0-F4CD-9E82-8235-71FEE84D2C53}"/>
              </a:ext>
            </a:extLst>
          </p:cNvPr>
          <p:cNvSpPr>
            <a:spLocks noGrp="1"/>
          </p:cNvSpPr>
          <p:nvPr>
            <p:ph type="title"/>
          </p:nvPr>
        </p:nvSpPr>
        <p:spPr>
          <a:xfrm>
            <a:off x="457199" y="457200"/>
            <a:ext cx="4482573" cy="1453896"/>
          </a:xfrm>
        </p:spPr>
        <p:txBody>
          <a:bodyPr anchor="t">
            <a:normAutofit/>
          </a:bodyPr>
          <a:lstStyle/>
          <a:p>
            <a:r>
              <a:rPr lang="en-US"/>
              <a:t>Problem &amp; Objectives</a:t>
            </a:r>
          </a:p>
        </p:txBody>
      </p:sp>
      <p:pic>
        <p:nvPicPr>
          <p:cNvPr id="5" name="Content Placeholder 4" descr="Dangerous Road: Rain, Wind, Fallen Tree. Shot in Yucatan, Mexico">
            <a:extLst>
              <a:ext uri="{FF2B5EF4-FFF2-40B4-BE49-F238E27FC236}">
                <a16:creationId xmlns:a16="http://schemas.microsoft.com/office/drawing/2014/main" id="{E7580037-6C47-4512-833A-4CDB2757E20C}"/>
              </a:ext>
            </a:extLst>
          </p:cNvPr>
          <p:cNvPicPr>
            <a:picLocks noGrp="1" noChangeAspect="1"/>
          </p:cNvPicPr>
          <p:nvPr>
            <p:ph type="pic" sz="quarter" idx="13"/>
          </p:nvPr>
        </p:nvPicPr>
        <p:blipFill>
          <a:blip r:embed="rId3"/>
          <a:srcRect l="3911" r="15379" b="-2"/>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2D23E833-1127-47B1-D0A9-B3E33A5581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Regional Disaster Challenges</a:t>
            </a:r>
          </a:p>
          <a:p>
            <a:pPr marL="0" lvl="1" indent="0">
              <a:buFont typeface="Arial" panose="020B0604020202020204" pitchFamily="34" charset="0"/>
              <a:buNone/>
            </a:pPr>
            <a:r>
              <a:t>Bugisu sub-region suffers heavy rainfall causing floods, landslides, and extensive damage to life and infrastructure.</a:t>
            </a:r>
            <a:endParaRPr lang="en-US"/>
          </a:p>
          <a:p>
            <a:pPr marL="0" indent="0">
              <a:spcBef>
                <a:spcPts val="2500"/>
              </a:spcBef>
              <a:buFont typeface="Arial" panose="020B0604020202020204" pitchFamily="34" charset="0"/>
              <a:buNone/>
            </a:pPr>
            <a:r>
              <a:rPr lang="en-US" b="1"/>
              <a:t>Predictive System Goal</a:t>
            </a:r>
          </a:p>
          <a:p>
            <a:pPr marL="0" lvl="1" indent="0">
              <a:buFont typeface="Arial" panose="020B0604020202020204" pitchFamily="34" charset="0"/>
              <a:buNone/>
            </a:pPr>
            <a:r>
              <a:t>Develop a system to predict heavy rainfall days exceeding the 95th percentile for early disaster warnings.</a:t>
            </a:r>
            <a:endParaRPr lang="en-US"/>
          </a:p>
          <a:p>
            <a:pPr marL="0" indent="0">
              <a:spcBef>
                <a:spcPts val="2500"/>
              </a:spcBef>
              <a:buFont typeface="Arial" panose="020B0604020202020204" pitchFamily="34" charset="0"/>
              <a:buNone/>
            </a:pPr>
            <a:r>
              <a:rPr lang="en-US" b="1"/>
              <a:t>Machine Learning Application</a:t>
            </a:r>
          </a:p>
          <a:p>
            <a:pPr marL="0" lvl="1" indent="0">
              <a:buFont typeface="Arial" panose="020B0604020202020204" pitchFamily="34" charset="0"/>
              <a:buNone/>
            </a:pPr>
            <a:r>
              <a:t>Utilize machine learning and distributed processing to achieve high recall and model interpretability for disaster prediction.</a:t>
            </a:r>
            <a:endParaRPr lang="en-US"/>
          </a:p>
          <a:p>
            <a:pPr marL="0" indent="0">
              <a:spcBef>
                <a:spcPts val="2500"/>
              </a:spcBef>
              <a:buFont typeface="Arial" panose="020B0604020202020204" pitchFamily="34" charset="0"/>
              <a:buNone/>
            </a:pPr>
            <a:r>
              <a:rPr lang="en-US" b="1"/>
              <a:t>Ethical and Stakeholder Focus</a:t>
            </a:r>
          </a:p>
          <a:p>
            <a:pPr marL="0" lvl="1" indent="0">
              <a:buFont typeface="Arial" panose="020B0604020202020204" pitchFamily="34" charset="0"/>
              <a:buNone/>
            </a:pPr>
            <a:r>
              <a:t>Ensure data privacy, transparent uncertainty communication, and build trust among governments and disaster agencies.</a:t>
            </a:r>
            <a:endParaRPr lang="en-US"/>
          </a:p>
        </p:txBody>
      </p:sp>
    </p:spTree>
    <p:extLst>
      <p:ext uri="{BB962C8B-B14F-4D97-AF65-F5344CB8AC3E}">
        <p14:creationId xmlns:p14="http://schemas.microsoft.com/office/powerpoint/2010/main" val="814071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F5E7F-32F5-7023-DC57-D486185E054F}"/>
              </a:ext>
            </a:extLst>
          </p:cNvPr>
          <p:cNvSpPr>
            <a:spLocks noGrp="1"/>
          </p:cNvSpPr>
          <p:nvPr>
            <p:ph type="title"/>
          </p:nvPr>
        </p:nvSpPr>
        <p:spPr>
          <a:xfrm>
            <a:off x="457200" y="457200"/>
            <a:ext cx="4380272" cy="1453896"/>
          </a:xfrm>
        </p:spPr>
        <p:txBody>
          <a:bodyPr anchor="t">
            <a:normAutofit/>
          </a:bodyPr>
          <a:lstStyle/>
          <a:p>
            <a:r>
              <a:rPr lang="en-US"/>
              <a:t>CRISP-DM Overview</a:t>
            </a:r>
          </a:p>
        </p:txBody>
      </p:sp>
      <p:pic>
        <p:nvPicPr>
          <p:cNvPr id="5" name="Content Placeholder 4" descr="Cyclical blank business chart">
            <a:extLst>
              <a:ext uri="{FF2B5EF4-FFF2-40B4-BE49-F238E27FC236}">
                <a16:creationId xmlns:a16="http://schemas.microsoft.com/office/drawing/2014/main" id="{0CBA56B1-8C41-4DD3-B234-729B99EC8F71}"/>
              </a:ext>
            </a:extLst>
          </p:cNvPr>
          <p:cNvPicPr>
            <a:picLocks noGrp="1" noChangeAspect="1"/>
          </p:cNvPicPr>
          <p:nvPr>
            <p:ph type="pic" sz="quarter" idx="13"/>
          </p:nvPr>
        </p:nvPicPr>
        <p:blipFill>
          <a:blip r:embed="rId3"/>
          <a:srcRect l="12534" r="5476"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195883B3-2D71-FD5E-261C-C54A26041D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Project Lifecycle Framework</a:t>
            </a:r>
          </a:p>
          <a:p>
            <a:pPr marL="0" lvl="1" indent="0">
              <a:buFont typeface="Arial" panose="020B0604020202020204" pitchFamily="34" charset="0"/>
              <a:buNone/>
            </a:pPr>
            <a:r>
              <a:t>CRISP-DM provides structured phases for managing data science projects from business understanding to deployment.</a:t>
            </a:r>
            <a:endParaRPr lang="en-US"/>
          </a:p>
          <a:p>
            <a:pPr marL="0" indent="0">
              <a:spcBef>
                <a:spcPts val="2500"/>
              </a:spcBef>
              <a:buFont typeface="Arial" panose="020B0604020202020204" pitchFamily="34" charset="0"/>
              <a:buNone/>
            </a:pPr>
            <a:r>
              <a:rPr lang="en-US" b="1"/>
              <a:t>Data Preparation and Understanding</a:t>
            </a:r>
          </a:p>
          <a:p>
            <a:pPr marL="0" lvl="1" indent="0">
              <a:buFont typeface="Arial" panose="020B0604020202020204" pitchFamily="34" charset="0"/>
              <a:buNone/>
            </a:pPr>
            <a:r>
              <a:t>Simulated datasets are cleaned and engineered, addressing missing values, outliers, and seasonal rainfall features.</a:t>
            </a:r>
            <a:endParaRPr lang="en-US"/>
          </a:p>
          <a:p>
            <a:pPr marL="0" indent="0">
              <a:spcBef>
                <a:spcPts val="2500"/>
              </a:spcBef>
              <a:buFont typeface="Arial" panose="020B0604020202020204" pitchFamily="34" charset="0"/>
              <a:buNone/>
            </a:pPr>
            <a:r>
              <a:rPr lang="en-US" b="1"/>
              <a:t>Modeling and Evaluation</a:t>
            </a:r>
          </a:p>
          <a:p>
            <a:pPr marL="0" lvl="1" indent="0">
              <a:buFont typeface="Arial" panose="020B0604020202020204" pitchFamily="34" charset="0"/>
              <a:buNone/>
            </a:pPr>
            <a:r>
              <a:t>Various algorithms like Logistic Regression and Random Forest are evaluated using metrics such as F1 score and ROC-AUC.</a:t>
            </a:r>
            <a:endParaRPr lang="en-US"/>
          </a:p>
          <a:p>
            <a:pPr marL="0" indent="0">
              <a:spcBef>
                <a:spcPts val="2500"/>
              </a:spcBef>
              <a:buFont typeface="Arial" panose="020B0604020202020204" pitchFamily="34" charset="0"/>
              <a:buNone/>
            </a:pPr>
            <a:r>
              <a:rPr lang="en-US" b="1"/>
              <a:t>Deployment and Monitoring</a:t>
            </a:r>
          </a:p>
          <a:p>
            <a:pPr marL="0" lvl="1" indent="0">
              <a:buFont typeface="Arial" panose="020B0604020202020204" pitchFamily="34" charset="0"/>
              <a:buNone/>
            </a:pPr>
            <a:r>
              <a:t>Deployment uses FastAPI and Docker with monitoring systems to track data and model drift, ensuring ongoing model effectiveness.</a:t>
            </a:r>
            <a:endParaRPr lang="en-US"/>
          </a:p>
        </p:txBody>
      </p:sp>
    </p:spTree>
    <p:extLst>
      <p:ext uri="{BB962C8B-B14F-4D97-AF65-F5344CB8AC3E}">
        <p14:creationId xmlns:p14="http://schemas.microsoft.com/office/powerpoint/2010/main" val="1008974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7D61F-3D89-B79B-4283-C01FF34F65A3}"/>
              </a:ext>
            </a:extLst>
          </p:cNvPr>
          <p:cNvSpPr>
            <a:spLocks noGrp="1"/>
          </p:cNvSpPr>
          <p:nvPr>
            <p:ph type="ctrTitle"/>
          </p:nvPr>
        </p:nvSpPr>
        <p:spPr>
          <a:xfrm>
            <a:off x="457197" y="3507830"/>
            <a:ext cx="7772400" cy="2944368"/>
          </a:xfrm>
        </p:spPr>
        <p:txBody>
          <a:bodyPr anchor="b">
            <a:normAutofit/>
          </a:bodyPr>
          <a:lstStyle/>
          <a:p>
            <a:r>
              <a:rPr lang="en-US"/>
              <a:t>Data and Feature Engineering</a:t>
            </a:r>
          </a:p>
        </p:txBody>
      </p:sp>
    </p:spTree>
    <p:extLst>
      <p:ext uri="{BB962C8B-B14F-4D97-AF65-F5344CB8AC3E}">
        <p14:creationId xmlns:p14="http://schemas.microsoft.com/office/powerpoint/2010/main" val="851038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62ED-00DE-E3D2-01C9-79835D0C75F5}"/>
              </a:ext>
            </a:extLst>
          </p:cNvPr>
          <p:cNvSpPr>
            <a:spLocks noGrp="1"/>
          </p:cNvSpPr>
          <p:nvPr>
            <p:ph type="title"/>
          </p:nvPr>
        </p:nvSpPr>
        <p:spPr>
          <a:xfrm>
            <a:off x="7242526" y="457200"/>
            <a:ext cx="4437283" cy="1410020"/>
          </a:xfrm>
        </p:spPr>
        <p:txBody>
          <a:bodyPr anchor="b">
            <a:normAutofit/>
          </a:bodyPr>
          <a:lstStyle/>
          <a:p>
            <a:r>
              <a:rPr lang="en-US"/>
              <a:t>Data Simulation and Characteristics</a:t>
            </a:r>
          </a:p>
        </p:txBody>
      </p:sp>
      <p:pic>
        <p:nvPicPr>
          <p:cNvPr id="5" name="Content Placeholder 4" descr="This image represents abstract art, design or science fiction technology.">
            <a:extLst>
              <a:ext uri="{FF2B5EF4-FFF2-40B4-BE49-F238E27FC236}">
                <a16:creationId xmlns:a16="http://schemas.microsoft.com/office/drawing/2014/main" id="{85C34213-AE77-4FBC-8F88-29C43C3F6387}"/>
              </a:ext>
            </a:extLst>
          </p:cNvPr>
          <p:cNvPicPr>
            <a:picLocks noGrp="1" noChangeAspect="1"/>
          </p:cNvPicPr>
          <p:nvPr>
            <p:ph type="pic" sz="quarter" idx="13"/>
          </p:nvPr>
        </p:nvPicPr>
        <p:blipFill>
          <a:blip r:embed="rId3"/>
          <a:srcRect l="17098" r="27776"/>
          <a:stretch>
            <a:fillRect/>
          </a:stretch>
        </p:blipFill>
        <p:spPr>
          <a:xfrm>
            <a:off x="20" y="10"/>
            <a:ext cx="6721048" cy="6857990"/>
          </a:xfrm>
        </p:spPr>
      </p:pic>
      <p:sp>
        <p:nvSpPr>
          <p:cNvPr id="4" name="Content Placeholder 3">
            <a:extLst>
              <a:ext uri="{FF2B5EF4-FFF2-40B4-BE49-F238E27FC236}">
                <a16:creationId xmlns:a16="http://schemas.microsoft.com/office/drawing/2014/main" id="{A1CB9089-8F16-4967-8152-1E4402DA8F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indent="0">
              <a:spcBef>
                <a:spcPts val="2500"/>
              </a:spcBef>
              <a:buFont typeface="Arial" panose="020B0604020202020204" pitchFamily="34" charset="0"/>
              <a:buNone/>
            </a:pPr>
            <a:r>
              <a:rPr lang="en-US" b="1"/>
              <a:t>Simulated Weather Dataset</a:t>
            </a:r>
          </a:p>
          <a:p>
            <a:pPr marL="0" lvl="1" indent="0">
              <a:buFont typeface="Arial" panose="020B0604020202020204" pitchFamily="34" charset="0"/>
              <a:buNone/>
            </a:pPr>
            <a:r>
              <a:t>Dataset simulates five years of daily weather data across four Bugisu districts with key variables and seasonal patterns.</a:t>
            </a:r>
            <a:endParaRPr lang="en-US"/>
          </a:p>
          <a:p>
            <a:pPr marL="0" indent="0">
              <a:spcBef>
                <a:spcPts val="2500"/>
              </a:spcBef>
              <a:buFont typeface="Arial" panose="020B0604020202020204" pitchFamily="34" charset="0"/>
              <a:buNone/>
            </a:pPr>
            <a:r>
              <a:rPr lang="en-US" b="1"/>
              <a:t>Data Cleaning Challenges</a:t>
            </a:r>
          </a:p>
          <a:p>
            <a:pPr marL="0" lvl="1" indent="0">
              <a:buFont typeface="Arial" panose="020B0604020202020204" pitchFamily="34" charset="0"/>
              <a:buNone/>
            </a:pPr>
            <a:r>
              <a:t>Missing humidity, rainfall outliers, and skewed data were managed using median imputation, outlier capping, and log transforms.</a:t>
            </a:r>
            <a:endParaRPr lang="en-US"/>
          </a:p>
          <a:p>
            <a:pPr marL="0" indent="0">
              <a:spcBef>
                <a:spcPts val="2500"/>
              </a:spcBef>
              <a:buFont typeface="Arial" panose="020B0604020202020204" pitchFamily="34" charset="0"/>
              <a:buNone/>
            </a:pPr>
            <a:r>
              <a:rPr lang="en-US" b="1"/>
              <a:t>Feature Engineering</a:t>
            </a:r>
          </a:p>
          <a:p>
            <a:pPr marL="0" lvl="1" indent="0">
              <a:buFont typeface="Arial" panose="020B0604020202020204" pitchFamily="34" charset="0"/>
              <a:buNone/>
            </a:pPr>
            <a:r>
              <a:t>Engineered features such as rainfall lags and rolling averages were created to capture temporal dependencies.</a:t>
            </a:r>
            <a:endParaRPr lang="en-US"/>
          </a:p>
        </p:txBody>
      </p:sp>
    </p:spTree>
    <p:extLst>
      <p:ext uri="{BB962C8B-B14F-4D97-AF65-F5344CB8AC3E}">
        <p14:creationId xmlns:p14="http://schemas.microsoft.com/office/powerpoint/2010/main" val="2943226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3212-14D3-D4E1-16B6-380F2987167E}"/>
              </a:ext>
            </a:extLst>
          </p:cNvPr>
          <p:cNvSpPr>
            <a:spLocks noGrp="1"/>
          </p:cNvSpPr>
          <p:nvPr>
            <p:ph type="title"/>
          </p:nvPr>
        </p:nvSpPr>
        <p:spPr>
          <a:xfrm>
            <a:off x="457200" y="457200"/>
            <a:ext cx="4380272" cy="1453896"/>
          </a:xfrm>
        </p:spPr>
        <p:txBody>
          <a:bodyPr anchor="t">
            <a:normAutofit/>
          </a:bodyPr>
          <a:lstStyle/>
          <a:p>
            <a:r>
              <a:rPr lang="en-US"/>
              <a:t>Feature Engineering and Target Definition</a:t>
            </a:r>
          </a:p>
        </p:txBody>
      </p:sp>
      <p:pic>
        <p:nvPicPr>
          <p:cNvPr id="5" name="Content Placeholder 4" descr="Business Finance and Industry, World Financial Recovery">
            <a:extLst>
              <a:ext uri="{FF2B5EF4-FFF2-40B4-BE49-F238E27FC236}">
                <a16:creationId xmlns:a16="http://schemas.microsoft.com/office/drawing/2014/main" id="{CB5AACD6-376C-461C-824E-AB847E927637}"/>
              </a:ext>
            </a:extLst>
          </p:cNvPr>
          <p:cNvPicPr>
            <a:picLocks noGrp="1" noChangeAspect="1"/>
          </p:cNvPicPr>
          <p:nvPr>
            <p:ph type="pic" sz="quarter" idx="13"/>
          </p:nvPr>
        </p:nvPicPr>
        <p:blipFill>
          <a:blip r:embed="rId3"/>
          <a:srcRect r="32915" b="-2"/>
          <a:stretch>
            <a:fillRect/>
          </a:stretch>
        </p:blipFill>
        <p:spPr>
          <a:xfrm>
            <a:off x="20" y="2175642"/>
            <a:ext cx="5584186" cy="4682358"/>
          </a:xfrm>
        </p:spPr>
      </p:pic>
      <p:sp>
        <p:nvSpPr>
          <p:cNvPr id="4" name="Content Placeholder 3">
            <a:extLst>
              <a:ext uri="{FF2B5EF4-FFF2-40B4-BE49-F238E27FC236}">
                <a16:creationId xmlns:a16="http://schemas.microsoft.com/office/drawing/2014/main" id="{9E03CD48-88E3-4379-339E-748FBF78839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Capturing Rainfall Trends</a:t>
            </a:r>
          </a:p>
          <a:p>
            <a:pPr marL="0" lvl="1" indent="0">
              <a:buFont typeface="Arial" panose="020B0604020202020204" pitchFamily="34" charset="0"/>
              <a:buNone/>
            </a:pPr>
            <a:r>
              <a:t>Lag features and rolling averages captured short- and medium-term rainfall trends to improve model insight.</a:t>
            </a:r>
            <a:endParaRPr lang="en-US"/>
          </a:p>
          <a:p>
            <a:pPr marL="0" indent="0">
              <a:spcBef>
                <a:spcPts val="2500"/>
              </a:spcBef>
              <a:buFont typeface="Arial" panose="020B0604020202020204" pitchFamily="34" charset="0"/>
              <a:buNone/>
            </a:pPr>
            <a:r>
              <a:rPr lang="en-US" b="1"/>
              <a:t>Encoding Spatial and Temporal Factors</a:t>
            </a:r>
          </a:p>
          <a:p>
            <a:pPr marL="0" lvl="1" indent="0">
              <a:buFont typeface="Arial" panose="020B0604020202020204" pitchFamily="34" charset="0"/>
              <a:buNone/>
            </a:pPr>
            <a:r>
              <a:t>Seasonal indicators and district-level categorical variables encoded heterogeneity in space and time.</a:t>
            </a:r>
            <a:endParaRPr lang="en-US"/>
          </a:p>
          <a:p>
            <a:pPr marL="0" indent="0">
              <a:spcBef>
                <a:spcPts val="2500"/>
              </a:spcBef>
              <a:buFont typeface="Arial" panose="020B0604020202020204" pitchFamily="34" charset="0"/>
              <a:buNone/>
            </a:pPr>
            <a:r>
              <a:rPr lang="en-US" b="1"/>
              <a:t>Defining Target Variable</a:t>
            </a:r>
          </a:p>
          <a:p>
            <a:pPr marL="0" lvl="1" indent="0">
              <a:buFont typeface="Arial" panose="020B0604020202020204" pitchFamily="34" charset="0"/>
              <a:buNone/>
            </a:pPr>
            <a:r>
              <a:t>Heavy rainfall was defined by days exceeding the 95th percentile per district-season, ensuring localized relevancy.</a:t>
            </a:r>
            <a:endParaRPr lang="en-US"/>
          </a:p>
          <a:p>
            <a:pPr marL="0" indent="0">
              <a:spcBef>
                <a:spcPts val="2500"/>
              </a:spcBef>
              <a:buFont typeface="Arial" panose="020B0604020202020204" pitchFamily="34" charset="0"/>
              <a:buNone/>
            </a:pPr>
            <a:r>
              <a:rPr lang="en-US" b="1"/>
              <a:t>Preprocessing and Pipeline</a:t>
            </a:r>
          </a:p>
          <a:p>
            <a:pPr marL="0" lvl="1" indent="0">
              <a:buFont typeface="Arial" panose="020B0604020202020204" pitchFamily="34" charset="0"/>
              <a:buNone/>
            </a:pPr>
            <a:r>
              <a:t>Scaling numeric features and one-hot encoding categorical variables prepared data for machine learning within a pipeline.</a:t>
            </a:r>
            <a:endParaRPr lang="en-US"/>
          </a:p>
        </p:txBody>
      </p:sp>
    </p:spTree>
    <p:extLst>
      <p:ext uri="{BB962C8B-B14F-4D97-AF65-F5344CB8AC3E}">
        <p14:creationId xmlns:p14="http://schemas.microsoft.com/office/powerpoint/2010/main" val="9828677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B63C-2F60-1713-46A6-56373D1D5D75}"/>
              </a:ext>
            </a:extLst>
          </p:cNvPr>
          <p:cNvSpPr>
            <a:spLocks noGrp="1"/>
          </p:cNvSpPr>
          <p:nvPr>
            <p:ph type="ctrTitle"/>
          </p:nvPr>
        </p:nvSpPr>
        <p:spPr>
          <a:xfrm>
            <a:off x="457197" y="3507830"/>
            <a:ext cx="7772400" cy="2944368"/>
          </a:xfrm>
        </p:spPr>
        <p:txBody>
          <a:bodyPr anchor="b">
            <a:normAutofit/>
          </a:bodyPr>
          <a:lstStyle/>
          <a:p>
            <a:r>
              <a:rPr lang="en-US"/>
              <a:t>Modeling and Evaluation</a:t>
            </a:r>
          </a:p>
        </p:txBody>
      </p:sp>
    </p:spTree>
    <p:extLst>
      <p:ext uri="{BB962C8B-B14F-4D97-AF65-F5344CB8AC3E}">
        <p14:creationId xmlns:p14="http://schemas.microsoft.com/office/powerpoint/2010/main" val="29869978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0DD6-594D-FFAA-F420-2CCCD2111937}"/>
              </a:ext>
            </a:extLst>
          </p:cNvPr>
          <p:cNvSpPr>
            <a:spLocks noGrp="1"/>
          </p:cNvSpPr>
          <p:nvPr>
            <p:ph type="title"/>
          </p:nvPr>
        </p:nvSpPr>
        <p:spPr>
          <a:xfrm>
            <a:off x="457199" y="457200"/>
            <a:ext cx="4482573" cy="1453896"/>
          </a:xfrm>
        </p:spPr>
        <p:txBody>
          <a:bodyPr anchor="t">
            <a:normAutofit/>
          </a:bodyPr>
          <a:lstStyle/>
          <a:p>
            <a:r>
              <a:rPr lang="en-US"/>
              <a:t>Model Selection and Development</a:t>
            </a:r>
          </a:p>
        </p:txBody>
      </p:sp>
      <p:pic>
        <p:nvPicPr>
          <p:cNvPr id="5" name="Content Placeholder 4" descr="Global warming begins with carbon dioxide&#10;The plant's ecosystem is destroyed, and the leaf withers.">
            <a:extLst>
              <a:ext uri="{FF2B5EF4-FFF2-40B4-BE49-F238E27FC236}">
                <a16:creationId xmlns:a16="http://schemas.microsoft.com/office/drawing/2014/main" id="{78AFC94D-E20E-44AA-9291-07C39DDD9958}"/>
              </a:ext>
            </a:extLst>
          </p:cNvPr>
          <p:cNvPicPr>
            <a:picLocks noGrp="1" noChangeAspect="1"/>
          </p:cNvPicPr>
          <p:nvPr>
            <p:ph type="pic" sz="quarter" idx="13"/>
          </p:nvPr>
        </p:nvPicPr>
        <p:blipFill>
          <a:blip r:embed="rId3"/>
          <a:srcRect l="10073" r="19044"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4D01CEDE-8DB4-AEB7-8102-387E4F54338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Model Types</a:t>
            </a:r>
          </a:p>
          <a:p>
            <a:pPr marL="0" lvl="1" indent="0">
              <a:buFont typeface="Arial" panose="020B0604020202020204" pitchFamily="34" charset="0"/>
              <a:buNone/>
            </a:pPr>
            <a:r>
              <a:t>Logistic Regression was used for baseline testing due to its simplicity and interpretability. Random Forest handled complex, non-linear feature interactions effectively.</a:t>
            </a:r>
            <a:endParaRPr lang="en-US"/>
          </a:p>
          <a:p>
            <a:pPr marL="0" indent="0">
              <a:spcBef>
                <a:spcPts val="2500"/>
              </a:spcBef>
              <a:buFont typeface="Arial" panose="020B0604020202020204" pitchFamily="34" charset="0"/>
              <a:buNone/>
            </a:pPr>
            <a:r>
              <a:rPr lang="en-US" b="1"/>
              <a:t>Hyperparameter Tuning</a:t>
            </a:r>
          </a:p>
          <a:p>
            <a:pPr marL="0" lvl="1" indent="0">
              <a:buFont typeface="Arial" panose="020B0604020202020204" pitchFamily="34" charset="0"/>
              <a:buNone/>
            </a:pPr>
            <a:r>
              <a:t>Randomized search optimized model performance by tuning hyperparameters for improved accuracy and robustness.</a:t>
            </a:r>
            <a:endParaRPr lang="en-US"/>
          </a:p>
          <a:p>
            <a:pPr marL="0" indent="0">
              <a:spcBef>
                <a:spcPts val="2500"/>
              </a:spcBef>
              <a:buFont typeface="Arial" panose="020B0604020202020204" pitchFamily="34" charset="0"/>
              <a:buNone/>
            </a:pPr>
            <a:r>
              <a:rPr lang="en-US" b="1"/>
              <a:t>Experiment Tracking</a:t>
            </a:r>
          </a:p>
          <a:p>
            <a:pPr marL="0" lvl="1" indent="0">
              <a:buFont typeface="Arial" panose="020B0604020202020204" pitchFamily="34" charset="0"/>
              <a:buNone/>
            </a:pPr>
            <a:r>
              <a:t>MLflow was used to track experiments, ensuring reproducibility and transparency throughout the model development lifecycle.</a:t>
            </a:r>
            <a:endParaRPr lang="en-US"/>
          </a:p>
          <a:p>
            <a:pPr marL="0" indent="0">
              <a:spcBef>
                <a:spcPts val="2500"/>
              </a:spcBef>
              <a:buFont typeface="Arial" panose="020B0604020202020204" pitchFamily="34" charset="0"/>
              <a:buNone/>
            </a:pPr>
            <a:r>
              <a:rPr lang="en-US" b="1"/>
              <a:t>Model Explainability</a:t>
            </a:r>
          </a:p>
          <a:p>
            <a:pPr marL="0" lvl="1" indent="0">
              <a:buFont typeface="Arial" panose="020B0604020202020204" pitchFamily="34" charset="0"/>
              <a:buNone/>
            </a:pPr>
            <a:r>
              <a:t>Explainability tools like SHAP provided insights into feature importance, building trust for disaster response decision-making.</a:t>
            </a:r>
            <a:endParaRPr lang="en-US"/>
          </a:p>
        </p:txBody>
      </p:sp>
    </p:spTree>
    <p:extLst>
      <p:ext uri="{BB962C8B-B14F-4D97-AF65-F5344CB8AC3E}">
        <p14:creationId xmlns:p14="http://schemas.microsoft.com/office/powerpoint/2010/main" val="34839696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19AD-E9BD-A120-0601-6BD9E3FCE45C}"/>
              </a:ext>
            </a:extLst>
          </p:cNvPr>
          <p:cNvSpPr>
            <a:spLocks noGrp="1"/>
          </p:cNvSpPr>
          <p:nvPr>
            <p:ph type="title"/>
          </p:nvPr>
        </p:nvSpPr>
        <p:spPr>
          <a:xfrm>
            <a:off x="457199" y="457200"/>
            <a:ext cx="4482573" cy="1453896"/>
          </a:xfrm>
        </p:spPr>
        <p:txBody>
          <a:bodyPr anchor="t">
            <a:normAutofit/>
          </a:bodyPr>
          <a:lstStyle/>
          <a:p>
            <a:r>
              <a:rPr lang="en-US"/>
              <a:t>Evaluation Metrics and Fairness Analysis</a:t>
            </a:r>
          </a:p>
        </p:txBody>
      </p:sp>
      <p:pic>
        <p:nvPicPr>
          <p:cNvPr id="5" name="Content Placeholder 4" descr="Digest those facts and figures... literal interpretation of the business lunch.">
            <a:extLst>
              <a:ext uri="{FF2B5EF4-FFF2-40B4-BE49-F238E27FC236}">
                <a16:creationId xmlns:a16="http://schemas.microsoft.com/office/drawing/2014/main" id="{F21B1B3C-B762-42F3-ABF5-9484CB6686EB}"/>
              </a:ext>
            </a:extLst>
          </p:cNvPr>
          <p:cNvPicPr>
            <a:picLocks noGrp="1" noChangeAspect="1"/>
          </p:cNvPicPr>
          <p:nvPr>
            <p:ph type="pic" sz="quarter" idx="13"/>
          </p:nvPr>
        </p:nvPicPr>
        <p:blipFill>
          <a:blip r:embed="rId3"/>
          <a:srcRect l="17935" r="11182"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9F042C67-5011-931C-BCEE-20E6FE1779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Temporal Data Splitting</a:t>
            </a:r>
          </a:p>
          <a:p>
            <a:pPr marL="0" lvl="1" indent="0">
              <a:buFont typeface="Arial" panose="020B0604020202020204" pitchFamily="34" charset="0"/>
              <a:buNone/>
            </a:pPr>
            <a:r>
              <a:t>Time-based train-validation-test split preserves temporal dependencies in rainfall data.</a:t>
            </a:r>
            <a:endParaRPr lang="en-US"/>
          </a:p>
          <a:p>
            <a:pPr marL="0" indent="0">
              <a:spcBef>
                <a:spcPts val="2500"/>
              </a:spcBef>
              <a:buFont typeface="Arial" panose="020B0604020202020204" pitchFamily="34" charset="0"/>
              <a:buNone/>
            </a:pPr>
            <a:r>
              <a:rPr lang="en-US" b="1"/>
              <a:t>Key Performance Metrics</a:t>
            </a:r>
          </a:p>
          <a:p>
            <a:pPr marL="0" lvl="1" indent="0">
              <a:buFont typeface="Arial" panose="020B0604020202020204" pitchFamily="34" charset="0"/>
              <a:buNone/>
            </a:pPr>
            <a:r>
              <a:t>F1 score, ROC-AUC, and Precision-Recall AUC assess model effectiveness for imbalanced classification.</a:t>
            </a:r>
            <a:endParaRPr lang="en-US"/>
          </a:p>
          <a:p>
            <a:pPr marL="0" indent="0">
              <a:spcBef>
                <a:spcPts val="2500"/>
              </a:spcBef>
              <a:buFont typeface="Arial" panose="020B0604020202020204" pitchFamily="34" charset="0"/>
              <a:buNone/>
            </a:pPr>
            <a:r>
              <a:rPr lang="en-US" b="1"/>
              <a:t>Error Pattern Analysis</a:t>
            </a:r>
          </a:p>
          <a:p>
            <a:pPr marL="0" lvl="1" indent="0">
              <a:buFont typeface="Arial" panose="020B0604020202020204" pitchFamily="34" charset="0"/>
              <a:buNone/>
            </a:pPr>
            <a:r>
              <a:t>Confusion matrices reveal false negatives during rainfall spikes and false positives in transitional seasons.</a:t>
            </a:r>
            <a:endParaRPr lang="en-US"/>
          </a:p>
          <a:p>
            <a:pPr marL="0" indent="0">
              <a:spcBef>
                <a:spcPts val="2500"/>
              </a:spcBef>
              <a:buFont typeface="Arial" panose="020B0604020202020204" pitchFamily="34" charset="0"/>
              <a:buNone/>
            </a:pPr>
            <a:r>
              <a:rPr lang="en-US" b="1"/>
              <a:t>Fairness Across Districts</a:t>
            </a:r>
          </a:p>
          <a:p>
            <a:pPr marL="0" lvl="1" indent="0">
              <a:buFont typeface="Arial" panose="020B0604020202020204" pitchFamily="34" charset="0"/>
              <a:buNone/>
            </a:pPr>
            <a:r>
              <a:t>Recall comparison across districts ensures equitable model performance and ethical deployment.</a:t>
            </a:r>
            <a:endParaRPr lang="en-US"/>
          </a:p>
        </p:txBody>
      </p:sp>
    </p:spTree>
    <p:extLst>
      <p:ext uri="{BB962C8B-B14F-4D97-AF65-F5344CB8AC3E}">
        <p14:creationId xmlns:p14="http://schemas.microsoft.com/office/powerpoint/2010/main" val="1343956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36DC2-249C-54E6-A735-A47D4CE455B4}"/>
              </a:ext>
            </a:extLst>
          </p:cNvPr>
          <p:cNvSpPr>
            <a:spLocks noGrp="1"/>
          </p:cNvSpPr>
          <p:nvPr>
            <p:ph type="ctrTitle"/>
          </p:nvPr>
        </p:nvSpPr>
        <p:spPr>
          <a:xfrm>
            <a:off x="457197" y="3507830"/>
            <a:ext cx="7772400" cy="2944368"/>
          </a:xfrm>
        </p:spPr>
        <p:txBody>
          <a:bodyPr anchor="b">
            <a:normAutofit/>
          </a:bodyPr>
          <a:lstStyle/>
          <a:p>
            <a:r>
              <a:rPr lang="en-US" sz="6800"/>
              <a:t>Deployment and Ethical Considerations</a:t>
            </a:r>
          </a:p>
        </p:txBody>
      </p:sp>
    </p:spTree>
    <p:extLst>
      <p:ext uri="{BB962C8B-B14F-4D97-AF65-F5344CB8AC3E}">
        <p14:creationId xmlns:p14="http://schemas.microsoft.com/office/powerpoint/2010/main" val="3087701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EDB87-88B4-51D0-7C5B-06C781682828}"/>
              </a:ext>
            </a:extLst>
          </p:cNvPr>
          <p:cNvSpPr>
            <a:spLocks noGrp="1"/>
          </p:cNvSpPr>
          <p:nvPr>
            <p:ph type="title"/>
          </p:nvPr>
        </p:nvSpPr>
        <p:spPr>
          <a:xfrm>
            <a:off x="457199" y="457200"/>
            <a:ext cx="4482573" cy="1453896"/>
          </a:xfrm>
        </p:spPr>
        <p:txBody>
          <a:bodyPr anchor="t">
            <a:normAutofit/>
          </a:bodyPr>
          <a:lstStyle/>
          <a:p>
            <a:r>
              <a:rPr lang="en-US"/>
              <a:t>MLOps and Deployment Strategy</a:t>
            </a:r>
          </a:p>
        </p:txBody>
      </p:sp>
      <p:pic>
        <p:nvPicPr>
          <p:cNvPr id="5" name="Content Placeholder 4" descr="Futuristic interface. men touching virtual screens">
            <a:extLst>
              <a:ext uri="{FF2B5EF4-FFF2-40B4-BE49-F238E27FC236}">
                <a16:creationId xmlns:a16="http://schemas.microsoft.com/office/drawing/2014/main" id="{1F79BD3B-4FEE-4F86-828C-34BADA64DD3A}"/>
              </a:ext>
            </a:extLst>
          </p:cNvPr>
          <p:cNvPicPr>
            <a:picLocks noGrp="1" noChangeAspect="1"/>
          </p:cNvPicPr>
          <p:nvPr>
            <p:ph type="pic" sz="quarter" idx="13"/>
          </p:nvPr>
        </p:nvPicPr>
        <p:blipFill>
          <a:blip r:embed="rId3"/>
          <a:srcRect l="40003" r="5572" b="1"/>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33228369-519C-642C-3FED-60766DD755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Real-time Model Access</a:t>
            </a:r>
          </a:p>
          <a:p>
            <a:pPr marL="0" lvl="1" indent="0">
              <a:buFont typeface="Arial" panose="020B0604020202020204" pitchFamily="34" charset="0"/>
              <a:buNone/>
            </a:pPr>
            <a:r>
              <a:t>The Random Forest model is available via a FastAPI endpoint for real-time predictions with a RESTful interface.</a:t>
            </a:r>
            <a:endParaRPr lang="en-US"/>
          </a:p>
          <a:p>
            <a:pPr marL="0" indent="0">
              <a:spcBef>
                <a:spcPts val="2500"/>
              </a:spcBef>
              <a:buFont typeface="Arial" panose="020B0604020202020204" pitchFamily="34" charset="0"/>
              <a:buNone/>
            </a:pPr>
            <a:r>
              <a:rPr lang="en-US" b="1"/>
              <a:t>Containerization and Portability</a:t>
            </a:r>
          </a:p>
          <a:p>
            <a:pPr marL="0" lvl="1" indent="0">
              <a:buFont typeface="Arial" panose="020B0604020202020204" pitchFamily="34" charset="0"/>
              <a:buNone/>
            </a:pPr>
            <a:r>
              <a:t>Docker containerization ensures the model runs consistently across different environments, improving portability.</a:t>
            </a:r>
            <a:endParaRPr lang="en-US"/>
          </a:p>
          <a:p>
            <a:pPr marL="0" indent="0">
              <a:spcBef>
                <a:spcPts val="2500"/>
              </a:spcBef>
              <a:buFont typeface="Arial" panose="020B0604020202020204" pitchFamily="34" charset="0"/>
              <a:buNone/>
            </a:pPr>
            <a:r>
              <a:rPr lang="en-US" b="1"/>
              <a:t>Automated CI/CD Pipeline</a:t>
            </a:r>
          </a:p>
          <a:p>
            <a:pPr marL="0" lvl="1" indent="0">
              <a:buFont typeface="Arial" panose="020B0604020202020204" pitchFamily="34" charset="0"/>
              <a:buNone/>
            </a:pPr>
            <a:r>
              <a:t>A CI/CD pipeline automates testing and deployment for efficient and reliable model updates and releases.</a:t>
            </a:r>
            <a:endParaRPr lang="en-US"/>
          </a:p>
          <a:p>
            <a:pPr marL="0" indent="0">
              <a:spcBef>
                <a:spcPts val="2500"/>
              </a:spcBef>
              <a:buFont typeface="Arial" panose="020B0604020202020204" pitchFamily="34" charset="0"/>
              <a:buNone/>
            </a:pPr>
            <a:r>
              <a:rPr lang="en-US" b="1"/>
              <a:t>Monitoring and Scalability</a:t>
            </a:r>
          </a:p>
          <a:p>
            <a:pPr marL="0" lvl="1" indent="0">
              <a:buFont typeface="Arial" panose="020B0604020202020204" pitchFamily="34" charset="0"/>
              <a:buNone/>
            </a:pPr>
            <a:r>
              <a:t>Monitoring tracks data drift and model performance, while architecture supports cloud autoscaling and disaster alerts.</a:t>
            </a:r>
            <a:endParaRPr lang="en-US"/>
          </a:p>
        </p:txBody>
      </p:sp>
    </p:spTree>
    <p:extLst>
      <p:ext uri="{BB962C8B-B14F-4D97-AF65-F5344CB8AC3E}">
        <p14:creationId xmlns:p14="http://schemas.microsoft.com/office/powerpoint/2010/main" val="3854145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E092C-1601-EBCF-4170-0D812B4216E3}"/>
              </a:ext>
            </a:extLst>
          </p:cNvPr>
          <p:cNvSpPr>
            <a:spLocks noGrp="1"/>
          </p:cNvSpPr>
          <p:nvPr>
            <p:ph type="title"/>
          </p:nvPr>
        </p:nvSpPr>
        <p:spPr>
          <a:xfrm>
            <a:off x="457200" y="457200"/>
            <a:ext cx="4380272" cy="1453896"/>
          </a:xfrm>
        </p:spPr>
        <p:txBody>
          <a:bodyPr anchor="t">
            <a:normAutofit/>
          </a:bodyPr>
          <a:lstStyle/>
          <a:p>
            <a:r>
              <a:rPr lang="en-US"/>
              <a:t>Ethical and Governance Framework</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A5DA1137-15E3-4921-913E-5E5F9CAC6E79}"/>
              </a:ext>
            </a:extLst>
          </p:cNvPr>
          <p:cNvPicPr>
            <a:picLocks noGrp="1" noChangeAspect="1"/>
          </p:cNvPicPr>
          <p:nvPr>
            <p:ph type="pic" sz="quarter" idx="13"/>
          </p:nvPr>
        </p:nvPicPr>
        <p:blipFill>
          <a:blip r:embed="rId3"/>
          <a:srcRect r="10556"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CB0903DA-2C6D-52FB-0662-48E561BA289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Privacy and Data Protection</a:t>
            </a:r>
          </a:p>
          <a:p>
            <a:pPr marL="0" lvl="1" indent="0">
              <a:buFont typeface="Arial" panose="020B0604020202020204" pitchFamily="34" charset="0"/>
              <a:buNone/>
            </a:pPr>
            <a:r>
              <a:t>The project ensured privacy by avoiding use of personally identifiable information and following data protection laws.</a:t>
            </a:r>
            <a:endParaRPr lang="en-US"/>
          </a:p>
          <a:p>
            <a:pPr marL="0" indent="0">
              <a:spcBef>
                <a:spcPts val="2500"/>
              </a:spcBef>
              <a:buFont typeface="Arial" panose="020B0604020202020204" pitchFamily="34" charset="0"/>
              <a:buNone/>
            </a:pPr>
            <a:r>
              <a:rPr lang="en-US" b="1"/>
              <a:t>Transparency and Explainability</a:t>
            </a:r>
          </a:p>
          <a:p>
            <a:pPr marL="0" lvl="1" indent="0">
              <a:buFont typeface="Arial" panose="020B0604020202020204" pitchFamily="34" charset="0"/>
              <a:buNone/>
            </a:pPr>
            <a:r>
              <a:t>Explainability tools and clear communication promoted transparency about model limitations and uncertainties.</a:t>
            </a:r>
            <a:endParaRPr lang="en-US"/>
          </a:p>
          <a:p>
            <a:pPr marL="0" indent="0">
              <a:spcBef>
                <a:spcPts val="2500"/>
              </a:spcBef>
              <a:buFont typeface="Arial" panose="020B0604020202020204" pitchFamily="34" charset="0"/>
              <a:buNone/>
            </a:pPr>
            <a:r>
              <a:rPr lang="en-US" b="1"/>
              <a:t>Fairness and Bias Mitigation</a:t>
            </a:r>
          </a:p>
          <a:p>
            <a:pPr marL="0" lvl="1" indent="0">
              <a:buFont typeface="Arial" panose="020B0604020202020204" pitchFamily="34" charset="0"/>
              <a:buNone/>
            </a:pPr>
            <a:r>
              <a:t>Performance validation across districts ensured fairness and helped avoid biases affecting vulnerable communities.</a:t>
            </a:r>
            <a:endParaRPr lang="en-US"/>
          </a:p>
          <a:p>
            <a:pPr marL="0" indent="0">
              <a:spcBef>
                <a:spcPts val="2500"/>
              </a:spcBef>
              <a:buFont typeface="Arial" panose="020B0604020202020204" pitchFamily="34" charset="0"/>
              <a:buNone/>
            </a:pPr>
            <a:r>
              <a:rPr lang="en-US" b="1"/>
              <a:t>Governance and Trust</a:t>
            </a:r>
          </a:p>
          <a:p>
            <a:pPr marL="0" lvl="1" indent="0">
              <a:buFont typeface="Arial" panose="020B0604020202020204" pitchFamily="34" charset="0"/>
              <a:buNone/>
            </a:pPr>
            <a:r>
              <a:t>Strong governance measures fostered trust and accountability essential for sensitive predictive system deployment.</a:t>
            </a:r>
            <a:endParaRPr lang="en-US"/>
          </a:p>
        </p:txBody>
      </p:sp>
    </p:spTree>
    <p:extLst>
      <p:ext uri="{BB962C8B-B14F-4D97-AF65-F5344CB8AC3E}">
        <p14:creationId xmlns:p14="http://schemas.microsoft.com/office/powerpoint/2010/main" val="439088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61CF-91AC-6523-11DA-D986D8C29FBB}"/>
              </a:ext>
            </a:extLst>
          </p:cNvPr>
          <p:cNvSpPr>
            <a:spLocks noGrp="1"/>
          </p:cNvSpPr>
          <p:nvPr>
            <p:ph type="ctrTitle"/>
          </p:nvPr>
        </p:nvSpPr>
        <p:spPr>
          <a:xfrm>
            <a:off x="457197" y="3507830"/>
            <a:ext cx="7772400" cy="2944368"/>
          </a:xfrm>
        </p:spPr>
        <p:txBody>
          <a:bodyPr anchor="b">
            <a:normAutofit/>
          </a:bodyPr>
          <a:lstStyle/>
          <a:p>
            <a:r>
              <a:rPr lang="en-US" sz="7400"/>
              <a:t>Limitations and Future Directions</a:t>
            </a:r>
          </a:p>
        </p:txBody>
      </p:sp>
    </p:spTree>
    <p:extLst>
      <p:ext uri="{BB962C8B-B14F-4D97-AF65-F5344CB8AC3E}">
        <p14:creationId xmlns:p14="http://schemas.microsoft.com/office/powerpoint/2010/main" val="1329556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74484-9CF9-3598-9179-683783EF751E}"/>
              </a:ext>
            </a:extLst>
          </p:cNvPr>
          <p:cNvSpPr>
            <a:spLocks noGrp="1"/>
          </p:cNvSpPr>
          <p:nvPr>
            <p:ph type="title"/>
          </p:nvPr>
        </p:nvSpPr>
        <p:spPr>
          <a:xfrm>
            <a:off x="457199" y="457200"/>
            <a:ext cx="4482573" cy="1453896"/>
          </a:xfrm>
        </p:spPr>
        <p:txBody>
          <a:bodyPr anchor="t">
            <a:normAutofit/>
          </a:bodyPr>
          <a:lstStyle/>
          <a:p>
            <a:r>
              <a:rPr lang="en-US"/>
              <a:t>Current Limitations</a:t>
            </a:r>
          </a:p>
        </p:txBody>
      </p:sp>
      <p:pic>
        <p:nvPicPr>
          <p:cNvPr id="5" name="Content Placeholder 4" descr="Cloud computing data technology internet connection city">
            <a:extLst>
              <a:ext uri="{FF2B5EF4-FFF2-40B4-BE49-F238E27FC236}">
                <a16:creationId xmlns:a16="http://schemas.microsoft.com/office/drawing/2014/main" id="{2ADDF826-1795-42DB-BCF6-654BC9F253C3}"/>
              </a:ext>
            </a:extLst>
          </p:cNvPr>
          <p:cNvPicPr>
            <a:picLocks noGrp="1" noChangeAspect="1"/>
          </p:cNvPicPr>
          <p:nvPr>
            <p:ph type="pic" sz="quarter" idx="13"/>
          </p:nvPr>
        </p:nvPicPr>
        <p:blipFill>
          <a:blip r:embed="rId3"/>
          <a:srcRect l="22907" r="6211"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55236519-663D-C961-C543-35CBA666C5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Simulated Dataset Limitations</a:t>
            </a:r>
          </a:p>
          <a:p>
            <a:pPr marL="0" lvl="1" indent="0">
              <a:buFont typeface="Arial" panose="020B0604020202020204" pitchFamily="34" charset="0"/>
              <a:buNone/>
            </a:pPr>
            <a:r>
              <a:t>The use of simulated data may reduce the model's applicability to real-world scenarios and limit generalizability.</a:t>
            </a:r>
            <a:endParaRPr lang="en-US"/>
          </a:p>
          <a:p>
            <a:pPr marL="0" indent="0">
              <a:spcBef>
                <a:spcPts val="2500"/>
              </a:spcBef>
              <a:buFont typeface="Arial" panose="020B0604020202020204" pitchFamily="34" charset="0"/>
              <a:buNone/>
            </a:pPr>
            <a:r>
              <a:rPr lang="en-US" b="1"/>
              <a:t>Missing Hydrological Variables</a:t>
            </a:r>
          </a:p>
          <a:p>
            <a:pPr marL="0" lvl="1" indent="0">
              <a:buFont typeface="Arial" panose="020B0604020202020204" pitchFamily="34" charset="0"/>
              <a:buNone/>
            </a:pPr>
            <a:r>
              <a:t>Excluding soil moisture and runoff could decrease the accuracy of flood impact predictions.</a:t>
            </a:r>
            <a:endParaRPr lang="en-US"/>
          </a:p>
          <a:p>
            <a:pPr marL="0" indent="0">
              <a:spcBef>
                <a:spcPts val="2500"/>
              </a:spcBef>
              <a:buFont typeface="Arial" panose="020B0604020202020204" pitchFamily="34" charset="0"/>
              <a:buNone/>
            </a:pPr>
            <a:r>
              <a:rPr lang="en-US" b="1"/>
              <a:t>Limited Deep Learning Integration</a:t>
            </a:r>
          </a:p>
          <a:p>
            <a:pPr marL="0" lvl="1" indent="0">
              <a:buFont typeface="Arial" panose="020B0604020202020204" pitchFamily="34" charset="0"/>
              <a:buNone/>
            </a:pPr>
            <a:r>
              <a:t>LSTM models were only briefly explored and not fully integrated, affecting sequence modeling potential.</a:t>
            </a:r>
            <a:endParaRPr lang="en-US"/>
          </a:p>
          <a:p>
            <a:pPr marL="0" indent="0">
              <a:spcBef>
                <a:spcPts val="2500"/>
              </a:spcBef>
              <a:buFont typeface="Arial" panose="020B0604020202020204" pitchFamily="34" charset="0"/>
              <a:buNone/>
            </a:pPr>
            <a:r>
              <a:rPr lang="en-US" b="1"/>
              <a:t>Deployment Constraints</a:t>
            </a:r>
          </a:p>
          <a:p>
            <a:pPr marL="0" lvl="1" indent="0">
              <a:buFont typeface="Arial" panose="020B0604020202020204" pitchFamily="34" charset="0"/>
              <a:buNone/>
            </a:pPr>
            <a:r>
              <a:t>Local environment deployment without cloud integration restricts scalability and wider application.</a:t>
            </a:r>
            <a:endParaRPr lang="en-US"/>
          </a:p>
        </p:txBody>
      </p:sp>
    </p:spTree>
    <p:extLst>
      <p:ext uri="{BB962C8B-B14F-4D97-AF65-F5344CB8AC3E}">
        <p14:creationId xmlns:p14="http://schemas.microsoft.com/office/powerpoint/2010/main" val="2680924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18E20-75F0-B252-41C9-2F577E3FDC03}"/>
              </a:ext>
            </a:extLst>
          </p:cNvPr>
          <p:cNvSpPr>
            <a:spLocks noGrp="1"/>
          </p:cNvSpPr>
          <p:nvPr>
            <p:ph type="title"/>
          </p:nvPr>
        </p:nvSpPr>
        <p:spPr>
          <a:xfrm>
            <a:off x="457199" y="457200"/>
            <a:ext cx="4482573" cy="1453896"/>
          </a:xfrm>
        </p:spPr>
        <p:txBody>
          <a:bodyPr anchor="t">
            <a:normAutofit/>
          </a:bodyPr>
          <a:lstStyle/>
          <a:p>
            <a:r>
              <a:rPr lang="en-US"/>
              <a:t>Future Work and Recommendations</a:t>
            </a:r>
          </a:p>
        </p:txBody>
      </p:sp>
      <p:pic>
        <p:nvPicPr>
          <p:cNvPr id="5" name="Content Placeholder 4" descr="Digital work of Social Media on Cloud Service">
            <a:extLst>
              <a:ext uri="{FF2B5EF4-FFF2-40B4-BE49-F238E27FC236}">
                <a16:creationId xmlns:a16="http://schemas.microsoft.com/office/drawing/2014/main" id="{A8F13E39-8A24-4EF2-9710-F4C2076E7CDF}"/>
              </a:ext>
            </a:extLst>
          </p:cNvPr>
          <p:cNvPicPr>
            <a:picLocks noGrp="1" noChangeAspect="1"/>
          </p:cNvPicPr>
          <p:nvPr>
            <p:ph type="pic" sz="quarter" idx="13"/>
          </p:nvPr>
        </p:nvPicPr>
        <p:blipFill>
          <a:blip r:embed="rId3"/>
          <a:srcRect l="29114" r="3"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AA1A3265-1D90-6E65-87F8-0ADF0644F52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Data Integration</a:t>
            </a:r>
          </a:p>
          <a:p>
            <a:pPr marL="0" lvl="1" indent="0">
              <a:buFont typeface="Arial" panose="020B0604020202020204" pitchFamily="34" charset="0"/>
              <a:buNone/>
            </a:pPr>
            <a:r>
              <a:t>Incorporate real datasets like CHIRPS and ERA5 to enhance model robustness and accuracy.</a:t>
            </a:r>
            <a:endParaRPr lang="en-US"/>
          </a:p>
          <a:p>
            <a:pPr marL="0" indent="0">
              <a:spcBef>
                <a:spcPts val="2500"/>
              </a:spcBef>
              <a:buFont typeface="Arial" panose="020B0604020202020204" pitchFamily="34" charset="0"/>
              <a:buNone/>
            </a:pPr>
            <a:r>
              <a:rPr lang="en-US" b="1"/>
              <a:t>Advanced Modeling Techniques</a:t>
            </a:r>
          </a:p>
          <a:p>
            <a:pPr marL="0" lvl="1" indent="0">
              <a:buFont typeface="Arial" panose="020B0604020202020204" pitchFamily="34" charset="0"/>
              <a:buNone/>
            </a:pPr>
            <a:r>
              <a:t>Explore LSTM networks to capture temporal dependencies and improve risk prediction.</a:t>
            </a:r>
            <a:endParaRPr lang="en-US"/>
          </a:p>
          <a:p>
            <a:pPr marL="0" indent="0">
              <a:spcBef>
                <a:spcPts val="2500"/>
              </a:spcBef>
              <a:buFont typeface="Arial" panose="020B0604020202020204" pitchFamily="34" charset="0"/>
              <a:buNone/>
            </a:pPr>
            <a:r>
              <a:rPr lang="en-US" b="1"/>
              <a:t>Cloud Deployment</a:t>
            </a:r>
          </a:p>
          <a:p>
            <a:pPr marL="0" lvl="1" indent="0">
              <a:buFont typeface="Arial" panose="020B0604020202020204" pitchFamily="34" charset="0"/>
              <a:buNone/>
            </a:pPr>
            <a:r>
              <a:t>Transition to cloud platforms with autoscaling to support scalable, large-scale operations.</a:t>
            </a:r>
            <a:endParaRPr lang="en-US"/>
          </a:p>
          <a:p>
            <a:pPr marL="0" indent="0">
              <a:spcBef>
                <a:spcPts val="2500"/>
              </a:spcBef>
              <a:buFont typeface="Arial" panose="020B0604020202020204" pitchFamily="34" charset="0"/>
              <a:buNone/>
            </a:pPr>
            <a:r>
              <a:rPr lang="en-US" b="1"/>
              <a:t>Alert Systems and Monitoring</a:t>
            </a:r>
          </a:p>
          <a:p>
            <a:pPr marL="0" lvl="1" indent="0">
              <a:buFont typeface="Arial" panose="020B0604020202020204" pitchFamily="34" charset="0"/>
              <a:buNone/>
            </a:pPr>
            <a:r>
              <a:t>Integrate SMS alert systems and continuous monitoring to deliver timely warnings and maintain model relevance.</a:t>
            </a:r>
            <a:endParaRPr lang="en-US"/>
          </a:p>
        </p:txBody>
      </p:sp>
    </p:spTree>
    <p:extLst>
      <p:ext uri="{BB962C8B-B14F-4D97-AF65-F5344CB8AC3E}">
        <p14:creationId xmlns:p14="http://schemas.microsoft.com/office/powerpoint/2010/main" val="23452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138AE6-00E4-459C-8B3A-08927B7E54F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1006</TotalTime>
  <Words>2203</Words>
  <Application>Microsoft Office PowerPoint</Application>
  <PresentationFormat>Widescreen</PresentationFormat>
  <Paragraphs>127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Bierstadt</vt:lpstr>
      <vt:lpstr>Calibri</vt:lpstr>
      <vt:lpstr>Bevel</vt:lpstr>
      <vt:lpstr>Daily Heavy Rainfall Prediction in Bugisu Sub-Region</vt:lpstr>
      <vt:lpstr>Project Overview and Objectives</vt:lpstr>
      <vt:lpstr>Problem &amp; Objectives</vt:lpstr>
      <vt:lpstr>CRISP-DM Overview</vt:lpstr>
      <vt:lpstr>Data and Feature Engineering</vt:lpstr>
      <vt:lpstr>Data Simulation and Characteristics</vt:lpstr>
      <vt:lpstr>Feature Engineering and Target Definition</vt:lpstr>
      <vt:lpstr>Modeling and Evaluation</vt:lpstr>
      <vt:lpstr>Model Selection and Development</vt:lpstr>
      <vt:lpstr>Evaluation Metrics and Fairness Analysis</vt:lpstr>
      <vt:lpstr>Deployment and Ethical Considerations</vt:lpstr>
      <vt:lpstr>MLOps and Deployment Strategy</vt:lpstr>
      <vt:lpstr>Ethical and Governance Framework</vt:lpstr>
      <vt:lpstr>Limitations and Future Directions</vt:lpstr>
      <vt:lpstr>Current Limitations</vt:lpstr>
      <vt:lpstr>Future Work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Omara, Francis</dc:creator>
  <cp:lastModifiedBy>Omara, Francis</cp:lastModifiedBy>
  <cp:revision>2</cp:revision>
  <dcterms:created xsi:type="dcterms:W3CDTF">2025-08-21T02:25:28Z</dcterms:created>
  <dcterms:modified xsi:type="dcterms:W3CDTF">2025-12-18T20:00:15Z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